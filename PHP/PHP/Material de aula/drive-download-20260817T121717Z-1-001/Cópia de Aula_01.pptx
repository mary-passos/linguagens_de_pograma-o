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1"/>
  </p:sldMasterIdLst>
  <p:handoutMasterIdLst>
    <p:handoutMasterId r:id="rId30"/>
  </p:handoutMasterIdLst>
  <p:sldIdLst>
    <p:sldId id="256" r:id="rId2"/>
    <p:sldId id="257" r:id="rId3"/>
    <p:sldId id="273" r:id="rId4"/>
    <p:sldId id="283" r:id="rId5"/>
    <p:sldId id="281" r:id="rId6"/>
    <p:sldId id="282" r:id="rId7"/>
    <p:sldId id="284" r:id="rId8"/>
    <p:sldId id="272" r:id="rId9"/>
    <p:sldId id="274" r:id="rId10"/>
    <p:sldId id="275" r:id="rId11"/>
    <p:sldId id="287" r:id="rId12"/>
    <p:sldId id="259" r:id="rId13"/>
    <p:sldId id="286" r:id="rId14"/>
    <p:sldId id="260" r:id="rId15"/>
    <p:sldId id="261" r:id="rId16"/>
    <p:sldId id="262" r:id="rId17"/>
    <p:sldId id="277" r:id="rId18"/>
    <p:sldId id="278" r:id="rId19"/>
    <p:sldId id="263" r:id="rId20"/>
    <p:sldId id="264" r:id="rId21"/>
    <p:sldId id="266" r:id="rId22"/>
    <p:sldId id="267" r:id="rId23"/>
    <p:sldId id="268" r:id="rId24"/>
    <p:sldId id="269" r:id="rId25"/>
    <p:sldId id="270" r:id="rId26"/>
    <p:sldId id="279" r:id="rId27"/>
    <p:sldId id="271" r:id="rId28"/>
    <p:sldId id="276" r:id="rId29"/>
  </p:sldIdLst>
  <p:sldSz cx="9144000" cy="6858000" type="screen4x3"/>
  <p:notesSz cx="7102475" cy="10231438"/>
  <p:defaultTextStyle>
    <a:defPPr>
      <a:defRPr lang="pt-B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109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5E5D"/>
    <a:srgbClr val="86C227"/>
    <a:srgbClr val="FFFFFF"/>
    <a:srgbClr val="D9D9D9"/>
    <a:srgbClr val="6CC800"/>
    <a:srgbClr val="635E5D"/>
    <a:srgbClr val="DEDEDC"/>
    <a:srgbClr val="A9A8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87" d="100"/>
          <a:sy n="87" d="100"/>
        </p:scale>
        <p:origin x="-146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1175"/>
          </a:xfrm>
          <a:prstGeom prst="rect">
            <a:avLst/>
          </a:prstGeom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Calibri" pitchFamily="-109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511175"/>
          </a:xfrm>
          <a:prstGeom prst="rect">
            <a:avLst/>
          </a:prstGeom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pitchFamily="-109" charset="0"/>
              </a:defRPr>
            </a:lvl1pPr>
          </a:lstStyle>
          <a:p>
            <a:pPr>
              <a:defRPr/>
            </a:pPr>
            <a:fld id="{91EC2A25-B422-400E-A77D-5B350A967126}" type="datetime1">
              <a:rPr lang="pt-BR"/>
              <a:pPr>
                <a:defRPr/>
              </a:pPr>
              <a:t>06/01/2011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18675"/>
            <a:ext cx="3078163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Calibri" pitchFamily="-109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725" y="9718675"/>
            <a:ext cx="3078163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pitchFamily="-109" charset="0"/>
              </a:defRPr>
            </a:lvl1pPr>
          </a:lstStyle>
          <a:p>
            <a:pPr>
              <a:defRPr/>
            </a:pPr>
            <a:fld id="{AAA00C3D-F6B6-423F-8383-3FD9E6A6CF2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7244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 userDrawn="1"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bg1"/>
          </a:solidFill>
          <a:ln>
            <a:solidFill>
              <a:srgbClr val="D9D9D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5" name="Rectangle 7"/>
          <p:cNvSpPr/>
          <p:nvPr/>
        </p:nvSpPr>
        <p:spPr>
          <a:xfrm>
            <a:off x="282575" y="284163"/>
            <a:ext cx="4235450" cy="4132262"/>
          </a:xfrm>
          <a:prstGeom prst="rect">
            <a:avLst/>
          </a:prstGeom>
          <a:noFill/>
          <a:ln w="508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6" name="Rectangle 8"/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7" name="Rectangle 9"/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8" name="TextBox 10"/>
          <p:cNvSpPr txBox="1">
            <a:spLocks noChangeArrowheads="1"/>
          </p:cNvSpPr>
          <p:nvPr/>
        </p:nvSpPr>
        <p:spPr bwMode="auto">
          <a:xfrm>
            <a:off x="425450" y="0"/>
            <a:ext cx="5651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5400" b="1" smtClean="0">
                <a:solidFill>
                  <a:srgbClr val="F7901E"/>
                </a:solidFill>
                <a:latin typeface="Calibri" pitchFamily="-109" charset="0"/>
              </a:rPr>
              <a:t>+</a:t>
            </a:r>
          </a:p>
        </p:txBody>
      </p:sp>
      <p:sp>
        <p:nvSpPr>
          <p:cNvPr id="9" name="Rectangle 11"/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rgbClr val="86C22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10" name="Rectangle 12"/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rgbClr val="625E5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pic>
        <p:nvPicPr>
          <p:cNvPr id="11" name="Picture 13" descr="final_logo_novo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1123950"/>
            <a:ext cx="385603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4388" y="4624668"/>
            <a:ext cx="4214812" cy="93345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4388" y="5562599"/>
            <a:ext cx="4214812" cy="748553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216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3600" b="1" smtClean="0">
                <a:solidFill>
                  <a:srgbClr val="F7901E"/>
                </a:solidFill>
                <a:latin typeface="Calibri" pitchFamily="-109" charset="0"/>
              </a:rPr>
              <a:t>+</a:t>
            </a:r>
          </a:p>
        </p:txBody>
      </p:sp>
      <p:sp>
        <p:nvSpPr>
          <p:cNvPr id="6" name="Rectangle 8"/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rgbClr val="6CC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30A386-386F-4B6E-ADF8-B9784EFE093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13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3600" b="1" smtClean="0">
                <a:solidFill>
                  <a:srgbClr val="B8E278"/>
                </a:solidFill>
                <a:latin typeface="Calibri" pitchFamily="-109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pt-BR" smtClean="0"/>
              <a:t>Clique para editar o estilo do título mestre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2B7AAA-34B8-4E55-906F-D9A5B54532F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578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rgbClr val="625E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5400" b="1" smtClean="0">
                <a:solidFill>
                  <a:srgbClr val="B8E278"/>
                </a:solidFill>
                <a:latin typeface="Calibri" pitchFamily="-109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4388" y="4629149"/>
            <a:ext cx="423545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t-BR" smtClean="0"/>
              <a:t>Clique para editar o estilo do título mestre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4388" y="5562599"/>
            <a:ext cx="4235450" cy="748553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pt-BR" noProof="0" smtClean="0"/>
              <a:t>Clique no ícone para adicionar uma imagem</a:t>
            </a:r>
            <a:endParaRPr noProof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pt-BR" noProof="0" smtClean="0"/>
              <a:t>Clique no ícone para adicionar uma imagem</a:t>
            </a:r>
            <a:endParaRPr noProof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60798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2003425" y="3111500"/>
            <a:ext cx="260350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4000" b="1" smtClean="0">
                <a:solidFill>
                  <a:srgbClr val="B8E278"/>
                </a:solidFill>
                <a:latin typeface="Calibri" pitchFamily="-109" charset="0"/>
              </a:rPr>
              <a:t>+</a:t>
            </a:r>
          </a:p>
        </p:txBody>
      </p:sp>
      <p:sp>
        <p:nvSpPr>
          <p:cNvPr id="6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B64970-7AF4-4535-8B38-D3BF2582135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2463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6" name="Rectangle 7"/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3600" b="1" smtClean="0">
                <a:solidFill>
                  <a:srgbClr val="B8E278"/>
                </a:solidFill>
                <a:latin typeface="Calibri" pitchFamily="-109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72774E-C488-4D69-938C-94A51392DE2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9215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3600" b="1" smtClean="0">
                <a:solidFill>
                  <a:srgbClr val="B8E278"/>
                </a:solidFill>
                <a:latin typeface="Calibri" pitchFamily="-109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3A321-EE19-41EA-80E0-6B7DC4D2D22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659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3600" b="1" smtClean="0">
                <a:solidFill>
                  <a:srgbClr val="B8E278"/>
                </a:solidFill>
                <a:latin typeface="Calibri" pitchFamily="-109" charset="0"/>
              </a:rPr>
              <a:t>+</a:t>
            </a:r>
          </a:p>
        </p:txBody>
      </p:sp>
      <p:sp>
        <p:nvSpPr>
          <p:cNvPr id="6" name="Rectangle 7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CE819-9E66-431A-BD57-7DF4CC57F0E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60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3600" b="1" smtClean="0">
                <a:solidFill>
                  <a:srgbClr val="B8E278"/>
                </a:solidFill>
                <a:latin typeface="Calibri" pitchFamily="-109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7DFBCC-740D-46F7-981C-720D1A74B33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28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3600" b="1" smtClean="0">
                <a:solidFill>
                  <a:srgbClr val="B8E278"/>
                </a:solidFill>
                <a:latin typeface="Calibri" pitchFamily="-109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42BA5-0568-499A-9239-B155C127CF8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27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3600" b="1" smtClean="0">
                <a:solidFill>
                  <a:srgbClr val="B8E278"/>
                </a:solidFill>
                <a:latin typeface="Calibri" pitchFamily="-109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C051C-2A98-48E1-9E88-8365993CDE9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9021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6D287-E47C-4C20-B11B-F02490B58FF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9230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5400" b="1" smtClean="0">
                <a:solidFill>
                  <a:srgbClr val="B8E278"/>
                </a:solidFill>
                <a:latin typeface="Calibri" pitchFamily="-109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3823551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3989388" y="3370263"/>
            <a:ext cx="220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2400" b="1" smtClean="0">
                <a:solidFill>
                  <a:srgbClr val="B8E278"/>
                </a:solidFill>
                <a:latin typeface="Calibri" pitchFamily="-109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pt-BR" smtClean="0"/>
              <a:t>Clique para editar o estilo do título mestre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 smtClean="0"/>
              <a:t>Clique no ícone para adicionar uma imagem</a:t>
            </a:r>
            <a:endParaRPr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719D1-0C20-42C3-8545-80AAB515D5F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2717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6" name="Rectangle 7"/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327025" y="4632325"/>
            <a:ext cx="2206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2400" b="1" smtClean="0">
                <a:solidFill>
                  <a:srgbClr val="B8E278"/>
                </a:solidFill>
                <a:latin typeface="Calibri" pitchFamily="-109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pt-BR" smtClean="0"/>
              <a:t>Clique para editar o estilo do título mestre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 smtClean="0"/>
              <a:t>Clique no ícone para adicionar uma imagem</a:t>
            </a:r>
            <a:endParaRPr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CAF9F-2A37-4C9A-B1DB-E2B34C9CAE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13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5400" b="1" smtClean="0">
                <a:solidFill>
                  <a:srgbClr val="B8E278"/>
                </a:solidFill>
                <a:latin typeface="Calibri" pitchFamily="-109" charset="0"/>
              </a:rPr>
              <a:t>+</a:t>
            </a:r>
          </a:p>
        </p:txBody>
      </p:sp>
      <p:sp>
        <p:nvSpPr>
          <p:cNvPr id="8" name="Rectangle 8"/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rgbClr val="625E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pt-BR" noProof="0" smtClean="0"/>
              <a:t>Clique no ícone para adicionar uma imagem</a:t>
            </a:r>
            <a:endParaRPr noProof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pt-BR" noProof="0" smtClean="0"/>
              <a:t>Clique no ícone para adicionar uma imagem</a:t>
            </a:r>
            <a:endParaRPr noProof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A41B46-2314-477D-A3C6-4D75D48028D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889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25450" y="174625"/>
            <a:ext cx="412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5400" b="1" smtClean="0">
                <a:solidFill>
                  <a:srgbClr val="B8E278"/>
                </a:solidFill>
                <a:latin typeface="Calibri" pitchFamily="-109" charset="0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pt-BR" smtClean="0"/>
              <a:t>Clique para editar o estilo do título mestre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pt-BR" noProof="0" smtClean="0"/>
              <a:t>Clique no ícone para adicionar uma imagem</a:t>
            </a:r>
            <a:endParaRPr noProof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pt-BR" noProof="0" smtClean="0"/>
              <a:t>Clique no ícone para adicionar uma imagem</a:t>
            </a:r>
            <a:endParaRPr noProof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pt-BR" noProof="0" smtClean="0"/>
              <a:t>Clique no ícone para adicionar uma imagem</a:t>
            </a:r>
            <a:endParaRPr noProof="0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5" name="Footer Placeholder 5"/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BEACC0-89BA-4AEA-AAE1-95E094E36EA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53988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749800" y="3370263"/>
            <a:ext cx="2206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2400" b="1" smtClean="0">
                <a:solidFill>
                  <a:srgbClr val="B8E278"/>
                </a:solidFill>
                <a:latin typeface="Calibri" pitchFamily="-109" charset="0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pt-BR" smtClean="0"/>
              <a:t>Clique para editar o estilo do título mestre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 smtClean="0"/>
              <a:t>Clique no ícone para adicionar uma imagem</a:t>
            </a:r>
            <a:endParaRPr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pt-BR" noProof="0" smtClean="0"/>
              <a:t>Clique no ícone para adicionar uma imagem</a:t>
            </a:r>
            <a:endParaRPr noProof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pt-BR" noProof="0" smtClean="0"/>
              <a:t>Clique no ícone para adicionar uma imagem</a:t>
            </a:r>
            <a:endParaRPr noProof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A5D37F-5D16-4CD3-ABD6-3962CB2B1B3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8721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223838" y="228600"/>
            <a:ext cx="2603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3600" b="1" smtClean="0">
                <a:solidFill>
                  <a:srgbClr val="B8E278"/>
                </a:solidFill>
                <a:latin typeface="Calibri" pitchFamily="-109" charset="0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F118F-8AAB-426F-BE7B-2E20FB0B003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50933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rgbClr val="FFFFFF"/>
              </a:solidFill>
              <a:ea typeface="ＭＳ Ｐゴシック" pitchFamily="-109" charset="-128"/>
            </a:endParaRPr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 rot="16200000">
            <a:off x="8593932" y="561181"/>
            <a:ext cx="26035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-109" charset="-128"/>
              </a:defRPr>
            </a:lvl9pPr>
          </a:lstStyle>
          <a:p>
            <a:pPr eaLnBrk="1" hangingPunct="1">
              <a:defRPr/>
            </a:pPr>
            <a:r>
              <a:rPr lang="pt-BR" sz="3600" b="1" smtClean="0">
                <a:solidFill>
                  <a:srgbClr val="B8E278"/>
                </a:solidFill>
                <a:latin typeface="Calibri" pitchFamily="-109" charset="0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B63CB-E27F-40D7-ABA7-5050B45C39D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42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rgbClr val="7D7D7D"/>
                </a:solidFill>
                <a:latin typeface="Calibri" pitchFamily="-109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rgbClr val="7D7D7D"/>
                </a:solidFill>
                <a:latin typeface="Calibri" pitchFamily="-109" charset="0"/>
              </a:defRPr>
            </a:lvl1pPr>
          </a:lstStyle>
          <a:p>
            <a:pPr>
              <a:defRPr/>
            </a:pPr>
            <a:r>
              <a:rPr lang="pt-BR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  <a:latin typeface="Calibri" pitchFamily="-109" charset="0"/>
              </a:defRPr>
            </a:lvl1pPr>
          </a:lstStyle>
          <a:p>
            <a:pPr>
              <a:defRPr/>
            </a:pPr>
            <a:fld id="{33A5B5E0-BDAF-4561-8FBD-09D10BB7597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62" r:id="rId1"/>
    <p:sldLayoutId id="2147484463" r:id="rId2"/>
    <p:sldLayoutId id="2147484464" r:id="rId3"/>
    <p:sldLayoutId id="2147484465" r:id="rId4"/>
    <p:sldLayoutId id="2147484466" r:id="rId5"/>
    <p:sldLayoutId id="2147484467" r:id="rId6"/>
    <p:sldLayoutId id="2147484468" r:id="rId7"/>
    <p:sldLayoutId id="2147484469" r:id="rId8"/>
    <p:sldLayoutId id="2147484470" r:id="rId9"/>
    <p:sldLayoutId id="2147484471" r:id="rId10"/>
    <p:sldLayoutId id="2147484472" r:id="rId11"/>
    <p:sldLayoutId id="2147484473" r:id="rId12"/>
    <p:sldLayoutId id="2147484474" r:id="rId13"/>
    <p:sldLayoutId id="2147484475" r:id="rId14"/>
    <p:sldLayoutId id="2147484476" r:id="rId15"/>
    <p:sldLayoutId id="2147484477" r:id="rId16"/>
    <p:sldLayoutId id="2147484478" r:id="rId17"/>
    <p:sldLayoutId id="2147484479" r:id="rId18"/>
    <p:sldLayoutId id="2147484480" r:id="rId19"/>
    <p:sldLayoutId id="2147484481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ＭＳ Ｐゴシック" pitchFamily="-109" charset="-128"/>
          <a:cs typeface="ＭＳ Ｐゴシック" pitchFamily="-109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-109" charset="0"/>
          <a:ea typeface="ＭＳ Ｐゴシック" pitchFamily="-109" charset="-128"/>
          <a:cs typeface="ＭＳ Ｐゴシック" pitchFamily="-109" charset="-128"/>
        </a:defRPr>
      </a:lvl9pPr>
    </p:titleStyle>
    <p:bodyStyle>
      <a:lvl1pPr marL="228600" indent="-228600" algn="l" rtl="0" eaLnBrk="0" fontAlgn="base" hangingPunct="0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rgbClr val="7D7D7D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marL="457200" indent="-228600" algn="l" rtl="0" eaLnBrk="0" fontAlgn="base" hangingPunct="0">
        <a:spcBef>
          <a:spcPts val="600"/>
        </a:spcBef>
        <a:spcAft>
          <a:spcPct val="0"/>
        </a:spcAft>
        <a:buClr>
          <a:srgbClr val="B8E278"/>
        </a:buClr>
        <a:buSzPct val="75000"/>
        <a:buFont typeface="Wingdings" pitchFamily="2" charset="2"/>
        <a:buChar char="n"/>
        <a:defRPr sz="2800" kern="1200">
          <a:solidFill>
            <a:srgbClr val="7D7D7D"/>
          </a:solidFill>
          <a:latin typeface="+mn-lt"/>
          <a:ea typeface="ＭＳ Ｐゴシック" pitchFamily="-109" charset="-128"/>
          <a:cs typeface="+mn-cs"/>
        </a:defRPr>
      </a:lvl2pPr>
      <a:lvl3pPr marL="6858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400" kern="1200">
          <a:solidFill>
            <a:srgbClr val="7D7D7D"/>
          </a:solidFill>
          <a:latin typeface="+mn-lt"/>
          <a:ea typeface="ＭＳ Ｐゴシック" pitchFamily="-109" charset="-128"/>
          <a:cs typeface="+mn-cs"/>
        </a:defRPr>
      </a:lvl3pPr>
      <a:lvl4pPr marL="914400" indent="-228600" algn="l" rtl="0" eaLnBrk="0" fontAlgn="base" hangingPunct="0">
        <a:spcBef>
          <a:spcPts val="600"/>
        </a:spcBef>
        <a:spcAft>
          <a:spcPct val="0"/>
        </a:spcAft>
        <a:buClr>
          <a:srgbClr val="B8E278"/>
        </a:buClr>
        <a:buSzPct val="75000"/>
        <a:buFont typeface="Wingdings" pitchFamily="2" charset="2"/>
        <a:buChar char="n"/>
        <a:defRPr sz="2000" kern="1200">
          <a:solidFill>
            <a:srgbClr val="7D7D7D"/>
          </a:solidFill>
          <a:latin typeface="+mn-lt"/>
          <a:ea typeface="ＭＳ Ｐゴシック" pitchFamily="-109" charset="-128"/>
          <a:cs typeface="+mn-cs"/>
        </a:defRPr>
      </a:lvl4pPr>
      <a:lvl5pPr marL="1143000" indent="-22860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rgbClr val="7D7D7D"/>
          </a:solidFill>
          <a:latin typeface="+mn-lt"/>
          <a:ea typeface="ＭＳ Ｐゴシック" pitchFamily="-109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masters.com.br/" TargetMode="External"/><Relationship Id="rId2" Type="http://schemas.openxmlformats.org/officeDocument/2006/relationships/hyperlink" Target="http://www.php.net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scriptbrasil.com.br/" TargetMode="External"/><Relationship Id="rId4" Type="http://schemas.openxmlformats.org/officeDocument/2006/relationships/hyperlink" Target="http://www.wmonline.com.b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ctrTitle"/>
          </p:nvPr>
        </p:nvSpPr>
        <p:spPr>
          <a:xfrm>
            <a:off x="4624388" y="4624388"/>
            <a:ext cx="4214812" cy="933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pt-BR" dirty="0" smtClean="0"/>
              <a:t>Curso PHP – Aula 01</a:t>
            </a:r>
          </a:p>
        </p:txBody>
      </p:sp>
      <p:sp>
        <p:nvSpPr>
          <p:cNvPr id="22531" name="Subtitle 2"/>
          <p:cNvSpPr>
            <a:spLocks noGrp="1"/>
          </p:cNvSpPr>
          <p:nvPr>
            <p:ph type="subTitle" idx="1"/>
          </p:nvPr>
        </p:nvSpPr>
        <p:spPr>
          <a:xfrm>
            <a:off x="4624388" y="5562600"/>
            <a:ext cx="4214812" cy="749300"/>
          </a:xfrm>
        </p:spPr>
        <p:txBody>
          <a:bodyPr/>
          <a:lstStyle/>
          <a:p>
            <a:pPr eaLnBrk="1" hangingPunct="1"/>
            <a:r>
              <a:rPr lang="pt-BR" smtClean="0">
                <a:solidFill>
                  <a:srgbClr val="909090"/>
                </a:solidFill>
              </a:rPr>
              <a:t>Bruno Falcão – brunogfalcao@gmail.com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Roteiro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§"/>
            </a:pPr>
            <a:r>
              <a:rPr lang="pt-BR" smtClean="0"/>
              <a:t>Objetivos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pt-BR" smtClean="0"/>
              <a:t>Roteiro do curso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pt-BR" smtClean="0"/>
              <a:t>Sites Dinâmicos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pt-BR" smtClean="0"/>
              <a:t>O PHP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pt-BR" smtClean="0"/>
              <a:t>PHP x ASP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pt-BR" smtClean="0"/>
              <a:t>Ferramentas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pt-BR" smtClean="0"/>
              <a:t>Sintaxe básica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pt-BR" smtClean="0"/>
              <a:t>E o Design?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Objetivos</a:t>
            </a:r>
          </a:p>
        </p:txBody>
      </p:sp>
      <p:sp>
        <p:nvSpPr>
          <p:cNvPr id="2457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Apresentar conceitos de PHP que possibilitem o desenvolvimento de aplicações web e um futuro aperfeiçoamento</a:t>
            </a:r>
          </a:p>
          <a:p>
            <a:pPr eaLnBrk="1" hangingPunct="1"/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O que é possível fazer</a:t>
            </a:r>
          </a:p>
        </p:txBody>
      </p:sp>
      <p:pic>
        <p:nvPicPr>
          <p:cNvPr id="25603" name="Espaço Reservado para Conteúdo 3" descr="tuvisse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50988" y="1981200"/>
            <a:ext cx="5451475" cy="4144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O que é possível fazer</a:t>
            </a:r>
          </a:p>
        </p:txBody>
      </p:sp>
      <p:pic>
        <p:nvPicPr>
          <p:cNvPr id="26627" name="Espaço Reservado para Conteúdo 5" descr="exemplo1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3025" y="1981200"/>
            <a:ext cx="5867400" cy="414496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O que é possível fazer</a:t>
            </a:r>
          </a:p>
        </p:txBody>
      </p:sp>
      <p:pic>
        <p:nvPicPr>
          <p:cNvPr id="27651" name="Espaço Reservado para Conteúdo 4" descr="exemplo2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78075" y="2071688"/>
            <a:ext cx="3905250" cy="38576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O que é possível fazer</a:t>
            </a:r>
          </a:p>
        </p:txBody>
      </p:sp>
      <p:sp>
        <p:nvSpPr>
          <p:cNvPr id="28675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pt-BR" sz="2000" smtClean="0"/>
              <a:t>Área restrita em sites (ex: para clientes verem seus projetos)</a:t>
            </a:r>
          </a:p>
          <a:p>
            <a:pPr lvl="1" eaLnBrk="1" hangingPunct="1"/>
            <a:r>
              <a:rPr lang="pt-BR" sz="2000" smtClean="0"/>
              <a:t>Site de conteúdo (notícias)</a:t>
            </a:r>
          </a:p>
          <a:p>
            <a:pPr lvl="1" eaLnBrk="1" hangingPunct="1"/>
            <a:r>
              <a:rPr lang="pt-BR" sz="2000" smtClean="0"/>
              <a:t>Sites de fotos (ex: bobflash)</a:t>
            </a:r>
          </a:p>
          <a:p>
            <a:pPr lvl="1" eaLnBrk="1" hangingPunct="1"/>
            <a:r>
              <a:rPr lang="pt-BR" sz="2000" smtClean="0"/>
              <a:t>Comércio eletrônico (mostrar produtos)</a:t>
            </a:r>
          </a:p>
          <a:p>
            <a:pPr lvl="1" eaLnBrk="1" hangingPunct="1"/>
            <a:r>
              <a:rPr lang="pt-BR" sz="2000" smtClean="0"/>
              <a:t>Gerenciar estabelecimentos (clínicas, lojas, ...)</a:t>
            </a:r>
          </a:p>
          <a:p>
            <a:pPr lvl="1" eaLnBrk="1" hangingPunct="1"/>
            <a:r>
              <a:rPr lang="pt-BR" sz="2000" smtClean="0"/>
              <a:t>E mais...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Roteiro do curso</a:t>
            </a:r>
          </a:p>
        </p:txBody>
      </p:sp>
      <p:sp>
        <p:nvSpPr>
          <p:cNvPr id="2969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smtClean="0"/>
              <a:t>Introdução</a:t>
            </a:r>
          </a:p>
          <a:p>
            <a:pPr eaLnBrk="1" hangingPunct="1"/>
            <a:r>
              <a:rPr lang="pt-BR" smtClean="0"/>
              <a:t>Conceitos básicos</a:t>
            </a:r>
          </a:p>
          <a:p>
            <a:pPr eaLnBrk="1" hangingPunct="1"/>
            <a:r>
              <a:rPr lang="pt-BR" smtClean="0"/>
              <a:t>Fundamentos</a:t>
            </a:r>
          </a:p>
          <a:p>
            <a:pPr lvl="1" eaLnBrk="1" hangingPunct="1"/>
            <a:r>
              <a:rPr lang="pt-BR" smtClean="0"/>
              <a:t>Comandos echo e print</a:t>
            </a:r>
          </a:p>
          <a:p>
            <a:pPr lvl="1" eaLnBrk="1" hangingPunct="1"/>
            <a:r>
              <a:rPr lang="pt-BR" smtClean="0"/>
              <a:t>Variáveis, Strings e Arrays</a:t>
            </a:r>
          </a:p>
          <a:p>
            <a:pPr lvl="1" eaLnBrk="1" hangingPunct="1"/>
            <a:r>
              <a:rPr lang="pt-BR" smtClean="0"/>
              <a:t>Operadores</a:t>
            </a:r>
          </a:p>
          <a:p>
            <a:pPr lvl="1" eaLnBrk="1" hangingPunct="1"/>
            <a:r>
              <a:rPr lang="pt-BR" smtClean="0"/>
              <a:t>Condicionais</a:t>
            </a:r>
          </a:p>
          <a:p>
            <a:pPr lvl="1" eaLnBrk="1" hangingPunct="1"/>
            <a:r>
              <a:rPr lang="pt-BR" smtClean="0"/>
              <a:t>Comandos de repetição</a:t>
            </a:r>
          </a:p>
          <a:p>
            <a:pPr lvl="1" eaLnBrk="1" hangingPunct="1"/>
            <a:r>
              <a:rPr lang="pt-BR" smtClean="0"/>
              <a:t>Sintaxe de Funções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Roteiro do curso</a:t>
            </a:r>
          </a:p>
        </p:txBody>
      </p:sp>
      <p:sp>
        <p:nvSpPr>
          <p:cNvPr id="3072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pt-BR" smtClean="0"/>
              <a:t>Funções do PHP</a:t>
            </a:r>
          </a:p>
          <a:p>
            <a:pPr lvl="1" eaLnBrk="1" hangingPunct="1"/>
            <a:r>
              <a:rPr lang="pt-BR" smtClean="0"/>
              <a:t>Componentes de formulário</a:t>
            </a:r>
          </a:p>
          <a:p>
            <a:pPr lvl="1" eaLnBrk="1" hangingPunct="1"/>
            <a:r>
              <a:rPr lang="pt-BR" smtClean="0"/>
              <a:t>Métodos GET e POST</a:t>
            </a:r>
          </a:p>
          <a:p>
            <a:pPr lvl="1" eaLnBrk="1" hangingPunct="1"/>
            <a:r>
              <a:rPr lang="pt-BR" smtClean="0"/>
              <a:t>Upload de arquivos</a:t>
            </a:r>
          </a:p>
          <a:p>
            <a:pPr lvl="1" eaLnBrk="1" hangingPunct="1"/>
            <a:r>
              <a:rPr lang="pt-BR" smtClean="0"/>
              <a:t>Manipulação de Arquivos</a:t>
            </a:r>
          </a:p>
          <a:p>
            <a:pPr lvl="1" eaLnBrk="1" hangingPunct="1"/>
            <a:r>
              <a:rPr lang="pt-BR" smtClean="0"/>
              <a:t>Banco de Dados (SQL e phpmyadmin)</a:t>
            </a:r>
          </a:p>
          <a:p>
            <a:pPr lvl="1" eaLnBrk="1" hangingPunct="1"/>
            <a:r>
              <a:rPr lang="pt-BR" smtClean="0"/>
              <a:t>Integração com Banco de Dados</a:t>
            </a:r>
          </a:p>
          <a:p>
            <a:pPr lvl="1" eaLnBrk="1" hangingPunct="1"/>
            <a:r>
              <a:rPr lang="pt-BR" smtClean="0"/>
              <a:t>Cookies e sessões</a:t>
            </a:r>
          </a:p>
          <a:p>
            <a:pPr lvl="1" eaLnBrk="1" hangingPunct="1"/>
            <a:r>
              <a:rPr lang="pt-BR" smtClean="0"/>
              <a:t>Enviando e-mails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Roteiro do curso</a:t>
            </a:r>
          </a:p>
        </p:txBody>
      </p:sp>
      <p:sp>
        <p:nvSpPr>
          <p:cNvPr id="31747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pt-BR" smtClean="0"/>
              <a:t>Orientação a objetos*</a:t>
            </a:r>
          </a:p>
          <a:p>
            <a:pPr lvl="2" eaLnBrk="1" hangingPunct="1"/>
            <a:r>
              <a:rPr lang="pt-BR" smtClean="0"/>
              <a:t>Classe, Herança, Visibilidade</a:t>
            </a:r>
          </a:p>
          <a:p>
            <a:pPr lvl="2" eaLnBrk="1" hangingPunct="1"/>
            <a:r>
              <a:rPr lang="pt-BR" smtClean="0"/>
              <a:t>Modelagem</a:t>
            </a:r>
          </a:p>
          <a:p>
            <a:pPr lvl="1" eaLnBrk="1" hangingPunct="1"/>
            <a:r>
              <a:rPr lang="pt-BR" smtClean="0"/>
              <a:t>Dicas de Segurança</a:t>
            </a:r>
          </a:p>
          <a:p>
            <a:pPr lvl="1" eaLnBrk="1" hangingPunct="1"/>
            <a:r>
              <a:rPr lang="pt-BR" smtClean="0"/>
              <a:t>Padrões</a:t>
            </a:r>
          </a:p>
          <a:p>
            <a:pPr lvl="1" eaLnBrk="1" hangingPunct="1"/>
            <a:r>
              <a:rPr lang="pt-BR" smtClean="0"/>
              <a:t>Scripts Úteis</a:t>
            </a:r>
          </a:p>
          <a:p>
            <a:pPr lvl="1" eaLnBrk="1" hangingPunct="1"/>
            <a:endParaRPr lang="pt-BR" smtClean="0"/>
          </a:p>
          <a:p>
            <a:pPr lvl="1" eaLnBrk="1" hangingPunct="1"/>
            <a:r>
              <a:rPr lang="pt-BR" smtClean="0"/>
              <a:t>Avaliação para Certificação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Considerações</a:t>
            </a:r>
          </a:p>
        </p:txBody>
      </p:sp>
      <p:sp>
        <p:nvSpPr>
          <p:cNvPr id="32771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200" smtClean="0"/>
              <a:t>Não há perguntas Inúteis</a:t>
            </a:r>
          </a:p>
          <a:p>
            <a:pPr lvl="1"/>
            <a:r>
              <a:rPr lang="pt-BR" smtClean="0"/>
              <a:t>Estamos todos aqui para aprender</a:t>
            </a:r>
          </a:p>
          <a:p>
            <a:pPr lvl="1"/>
            <a:endParaRPr lang="pt-BR" smtClean="0"/>
          </a:p>
          <a:p>
            <a:r>
              <a:rPr lang="pt-BR" sz="3200" smtClean="0"/>
              <a:t>Exercícios</a:t>
            </a:r>
          </a:p>
          <a:p>
            <a:r>
              <a:rPr lang="pt-BR" sz="3200" smtClean="0"/>
              <a:t>Horário</a:t>
            </a:r>
          </a:p>
          <a:p>
            <a:r>
              <a:rPr lang="pt-BR" sz="3200" smtClean="0"/>
              <a:t>Contato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Sites Dinâmicos</a:t>
            </a:r>
          </a:p>
        </p:txBody>
      </p:sp>
      <p:sp>
        <p:nvSpPr>
          <p:cNvPr id="3379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smtClean="0"/>
              <a:t>Sites estáticos</a:t>
            </a:r>
          </a:p>
        </p:txBody>
      </p:sp>
      <p:sp>
        <p:nvSpPr>
          <p:cNvPr id="5" name="Retângulo 4"/>
          <p:cNvSpPr/>
          <p:nvPr/>
        </p:nvSpPr>
        <p:spPr>
          <a:xfrm>
            <a:off x="1214414" y="3143248"/>
            <a:ext cx="1785950" cy="12144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/>
              <a:t>Cliente</a:t>
            </a:r>
          </a:p>
        </p:txBody>
      </p:sp>
      <p:sp>
        <p:nvSpPr>
          <p:cNvPr id="6" name="Retângulo 5"/>
          <p:cNvSpPr/>
          <p:nvPr/>
        </p:nvSpPr>
        <p:spPr>
          <a:xfrm>
            <a:off x="5500694" y="3143248"/>
            <a:ext cx="1928826" cy="121444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/>
              <a:t>Servidor</a:t>
            </a:r>
          </a:p>
        </p:txBody>
      </p:sp>
      <p:sp>
        <p:nvSpPr>
          <p:cNvPr id="35" name="Seta em curva para baixo 34"/>
          <p:cNvSpPr/>
          <p:nvPr/>
        </p:nvSpPr>
        <p:spPr>
          <a:xfrm>
            <a:off x="2606602" y="2357430"/>
            <a:ext cx="3394158" cy="731520"/>
          </a:xfrm>
          <a:prstGeom prst="curved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36" name="Seta em curva para cima 35"/>
          <p:cNvSpPr/>
          <p:nvPr/>
        </p:nvSpPr>
        <p:spPr>
          <a:xfrm flipH="1">
            <a:off x="2606602" y="4500570"/>
            <a:ext cx="3251250" cy="714380"/>
          </a:xfrm>
          <a:prstGeom prst="curved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37" name="Retângulo 36"/>
          <p:cNvSpPr/>
          <p:nvPr/>
        </p:nvSpPr>
        <p:spPr>
          <a:xfrm>
            <a:off x="3643306" y="5357826"/>
            <a:ext cx="1428760" cy="57150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/>
              <a:t>Retorna mesmo </a:t>
            </a:r>
            <a:r>
              <a:rPr lang="pt-BR" dirty="0" err="1"/>
              <a:t>html</a:t>
            </a:r>
            <a:endParaRPr lang="pt-BR" dirty="0"/>
          </a:p>
        </p:txBody>
      </p:sp>
      <p:sp>
        <p:nvSpPr>
          <p:cNvPr id="38" name="Retângulo com Canto Diagonal Aparado 37"/>
          <p:cNvSpPr/>
          <p:nvPr/>
        </p:nvSpPr>
        <p:spPr>
          <a:xfrm>
            <a:off x="4929190" y="1000108"/>
            <a:ext cx="3000396" cy="857256"/>
          </a:xfrm>
          <a:prstGeom prst="snip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/>
              <a:t>Servidor só responde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Sites Dinâmicos</a:t>
            </a:r>
          </a:p>
        </p:txBody>
      </p:sp>
      <p:sp>
        <p:nvSpPr>
          <p:cNvPr id="3481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smtClean="0"/>
              <a:t>Sites Dinâmicos</a:t>
            </a:r>
          </a:p>
        </p:txBody>
      </p:sp>
      <p:sp>
        <p:nvSpPr>
          <p:cNvPr id="5" name="Retângulo 4"/>
          <p:cNvSpPr/>
          <p:nvPr/>
        </p:nvSpPr>
        <p:spPr>
          <a:xfrm>
            <a:off x="571472" y="3143248"/>
            <a:ext cx="1785950" cy="12144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/>
              <a:t>Cliente</a:t>
            </a:r>
          </a:p>
        </p:txBody>
      </p:sp>
      <p:sp>
        <p:nvSpPr>
          <p:cNvPr id="6" name="Retângulo 5"/>
          <p:cNvSpPr/>
          <p:nvPr/>
        </p:nvSpPr>
        <p:spPr>
          <a:xfrm>
            <a:off x="4857752" y="3143248"/>
            <a:ext cx="1928826" cy="121444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pt-BR" dirty="0"/>
              <a:t>   Servidor</a:t>
            </a:r>
          </a:p>
          <a:p>
            <a:pPr algn="ctr">
              <a:defRPr/>
            </a:pPr>
            <a:endParaRPr lang="pt-BR" dirty="0"/>
          </a:p>
          <a:p>
            <a:pPr algn="ctr">
              <a:defRPr/>
            </a:pPr>
            <a:endParaRPr lang="pt-BR" dirty="0"/>
          </a:p>
        </p:txBody>
      </p:sp>
      <p:sp>
        <p:nvSpPr>
          <p:cNvPr id="35" name="Seta em curva para baixo 34"/>
          <p:cNvSpPr/>
          <p:nvPr/>
        </p:nvSpPr>
        <p:spPr>
          <a:xfrm>
            <a:off x="1963660" y="2357430"/>
            <a:ext cx="3394158" cy="731520"/>
          </a:xfrm>
          <a:prstGeom prst="curved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36" name="Seta em curva para cima 35"/>
          <p:cNvSpPr/>
          <p:nvPr/>
        </p:nvSpPr>
        <p:spPr>
          <a:xfrm flipH="1">
            <a:off x="1963660" y="4500570"/>
            <a:ext cx="3251250" cy="714380"/>
          </a:xfrm>
          <a:prstGeom prst="curved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37" name="Retângulo 36"/>
          <p:cNvSpPr/>
          <p:nvPr/>
        </p:nvSpPr>
        <p:spPr>
          <a:xfrm>
            <a:off x="3000364" y="5357826"/>
            <a:ext cx="1428760" cy="57150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/>
              <a:t>Retorna </a:t>
            </a:r>
            <a:r>
              <a:rPr lang="pt-BR" dirty="0" err="1"/>
              <a:t>Html</a:t>
            </a:r>
            <a:r>
              <a:rPr lang="pt-BR" dirty="0"/>
              <a:t> Dinâmico</a:t>
            </a:r>
          </a:p>
        </p:txBody>
      </p:sp>
      <p:sp>
        <p:nvSpPr>
          <p:cNvPr id="9" name="Retângulo 8"/>
          <p:cNvSpPr/>
          <p:nvPr/>
        </p:nvSpPr>
        <p:spPr>
          <a:xfrm>
            <a:off x="2643174" y="1714488"/>
            <a:ext cx="2000264" cy="571504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/>
              <a:t>Cliente pode passar informações</a:t>
            </a:r>
          </a:p>
        </p:txBody>
      </p:sp>
      <p:sp>
        <p:nvSpPr>
          <p:cNvPr id="10" name="Retângulo de cantos arredondados 9"/>
          <p:cNvSpPr/>
          <p:nvPr/>
        </p:nvSpPr>
        <p:spPr>
          <a:xfrm>
            <a:off x="7429520" y="4643446"/>
            <a:ext cx="914400" cy="142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/>
              <a:t>Banco de Dados</a:t>
            </a:r>
          </a:p>
        </p:txBody>
      </p:sp>
      <p:sp>
        <p:nvSpPr>
          <p:cNvPr id="11" name="Seta em curva para baixo 10"/>
          <p:cNvSpPr/>
          <p:nvPr/>
        </p:nvSpPr>
        <p:spPr>
          <a:xfrm rot="2610864">
            <a:off x="6821443" y="3924941"/>
            <a:ext cx="1216152" cy="347579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12" name="Seta em curva para baixo 11"/>
          <p:cNvSpPr/>
          <p:nvPr/>
        </p:nvSpPr>
        <p:spPr>
          <a:xfrm rot="13371267">
            <a:off x="6242408" y="4785934"/>
            <a:ext cx="1216152" cy="347579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solidFill>
                <a:schemeClr val="tx1"/>
              </a:solidFill>
            </a:endParaRPr>
          </a:p>
        </p:txBody>
      </p:sp>
      <p:sp>
        <p:nvSpPr>
          <p:cNvPr id="13" name="Retângulo com Canto Diagonal Aparado 12"/>
          <p:cNvSpPr/>
          <p:nvPr/>
        </p:nvSpPr>
        <p:spPr>
          <a:xfrm>
            <a:off x="4929190" y="1000108"/>
            <a:ext cx="3000396" cy="857256"/>
          </a:xfrm>
          <a:prstGeom prst="snip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dirty="0"/>
              <a:t>Servidor processa e responde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600700" y="3448050"/>
            <a:ext cx="971550" cy="728663"/>
            <a:chOff x="1632" y="1248"/>
            <a:chExt cx="2682" cy="2286"/>
          </a:xfrm>
        </p:grpSpPr>
        <p:sp>
          <p:nvSpPr>
            <p:cNvPr id="34851" name="Gear"/>
            <p:cNvSpPr>
              <a:spLocks noEditPoints="1" noChangeArrowheads="1"/>
            </p:cNvSpPr>
            <p:nvPr/>
          </p:nvSpPr>
          <p:spPr bwMode="auto">
            <a:xfrm>
              <a:off x="3119" y="1248"/>
              <a:ext cx="1195" cy="104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4 w 21600"/>
                <a:gd name="T13" fmla="*/ 3957 h 21600"/>
                <a:gd name="T14" fmla="*/ 17840 w 21600"/>
                <a:gd name="T15" fmla="*/ 1764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88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</a:sp3d>
          </p:spPr>
          <p:txBody>
            <a:bodyPr>
              <a:flatTx/>
            </a:bodyPr>
            <a:lstStyle/>
            <a:p>
              <a:endParaRPr lang="pt-BR"/>
            </a:p>
          </p:txBody>
        </p:sp>
        <p:sp>
          <p:nvSpPr>
            <p:cNvPr id="34852" name="AutoShape 4"/>
            <p:cNvSpPr>
              <a:spLocks noEditPoints="1" noChangeArrowheads="1"/>
            </p:cNvSpPr>
            <p:nvPr/>
          </p:nvSpPr>
          <p:spPr bwMode="auto">
            <a:xfrm>
              <a:off x="1632" y="1680"/>
              <a:ext cx="1429" cy="125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68 w 21600"/>
                <a:gd name="T13" fmla="*/ 3965 h 21600"/>
                <a:gd name="T14" fmla="*/ 17836 w 21600"/>
                <a:gd name="T15" fmla="*/ 1763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88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</a:sp3d>
          </p:spPr>
          <p:txBody>
            <a:bodyPr>
              <a:flatTx/>
            </a:bodyPr>
            <a:lstStyle/>
            <a:p>
              <a:endParaRPr lang="pt-BR"/>
            </a:p>
          </p:txBody>
        </p:sp>
        <p:sp>
          <p:nvSpPr>
            <p:cNvPr id="34853" name="AutoShape 5"/>
            <p:cNvSpPr>
              <a:spLocks noEditPoints="1" noChangeArrowheads="1"/>
            </p:cNvSpPr>
            <p:nvPr/>
          </p:nvSpPr>
          <p:spPr bwMode="auto">
            <a:xfrm>
              <a:off x="2559" y="2142"/>
              <a:ext cx="1588" cy="13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80 w 21600"/>
                <a:gd name="T13" fmla="*/ 3957 h 21600"/>
                <a:gd name="T14" fmla="*/ 17846 w 21600"/>
                <a:gd name="T15" fmla="*/ 1762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88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</a:sp3d>
          </p:spPr>
          <p:txBody>
            <a:bodyPr>
              <a:flatTx/>
            </a:bodyPr>
            <a:lstStyle/>
            <a:p>
              <a:endParaRPr lang="pt-B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O PHP</a:t>
            </a:r>
          </a:p>
        </p:txBody>
      </p:sp>
      <p:sp>
        <p:nvSpPr>
          <p:cNvPr id="34819" name="Espaço Reservado para Conteúdo 2"/>
          <p:cNvSpPr>
            <a:spLocks noGrp="1"/>
          </p:cNvSpPr>
          <p:nvPr>
            <p:ph idx="1"/>
          </p:nvPr>
        </p:nvSpPr>
        <p:spPr>
          <a:xfrm>
            <a:off x="498475" y="1981200"/>
            <a:ext cx="7556500" cy="4376738"/>
          </a:xfrm>
        </p:spPr>
        <p:txBody>
          <a:bodyPr/>
          <a:lstStyle/>
          <a:p>
            <a:pPr eaLnBrk="1" hangingPunct="1"/>
            <a:r>
              <a:rPr lang="pt-BR" i="1" smtClean="0"/>
              <a:t>PHP: Hypertext Preprocessor</a:t>
            </a:r>
            <a:endParaRPr lang="pt-BR" smtClean="0"/>
          </a:p>
          <a:p>
            <a:r>
              <a:rPr lang="pt-BR" smtClean="0"/>
              <a:t>Velocidade e robustez</a:t>
            </a:r>
          </a:p>
          <a:p>
            <a:r>
              <a:rPr lang="pt-BR" smtClean="0"/>
              <a:t>Estruturado e orientação a objeto</a:t>
            </a:r>
          </a:p>
          <a:p>
            <a:r>
              <a:rPr lang="pt-BR" smtClean="0"/>
              <a:t>Sintaxe similar a Linguagem C/C++ e o PERL</a:t>
            </a:r>
          </a:p>
          <a:p>
            <a:pPr eaLnBrk="1" hangingPunct="1"/>
            <a:r>
              <a:rPr lang="pt-BR" smtClean="0"/>
              <a:t>Roda no servidor (retorna um html)</a:t>
            </a:r>
          </a:p>
          <a:p>
            <a:pPr eaLnBrk="1" hangingPunct="1"/>
            <a:r>
              <a:rPr lang="pt-BR" smtClean="0"/>
              <a:t>Surgiu em 1994 como um pacote de programas CGI</a:t>
            </a:r>
          </a:p>
          <a:p>
            <a:pPr eaLnBrk="1" hangingPunct="1"/>
            <a:r>
              <a:rPr lang="pt-BR" smtClean="0"/>
              <a:t>Interação com MySQL</a:t>
            </a:r>
          </a:p>
          <a:p>
            <a:pPr eaLnBrk="1" hangingPunct="1"/>
            <a:r>
              <a:rPr lang="pt-BR" smtClean="0"/>
              <a:t>Código fonte não aparece</a:t>
            </a:r>
          </a:p>
          <a:p>
            <a:pPr eaLnBrk="1" hangingPunct="1"/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PHP x ASP</a:t>
            </a:r>
          </a:p>
        </p:txBody>
      </p:sp>
      <p:sp>
        <p:nvSpPr>
          <p:cNvPr id="3584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Ambos tem a mesma finalidade (páginas web)</a:t>
            </a:r>
          </a:p>
          <a:p>
            <a:pPr eaLnBrk="1" hangingPunct="1"/>
            <a:r>
              <a:rPr lang="pt-BR" smtClean="0"/>
              <a:t>PHP roda em servidores gratuítos (ex: apache)</a:t>
            </a:r>
          </a:p>
          <a:p>
            <a:pPr eaLnBrk="1" hangingPunct="1"/>
            <a:r>
              <a:rPr lang="pt-BR" smtClean="0"/>
              <a:t>ASP só roda em servidores microsoft  (maior custo)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Ferramentas</a:t>
            </a:r>
          </a:p>
        </p:txBody>
      </p:sp>
      <p:sp>
        <p:nvSpPr>
          <p:cNvPr id="37891" name="Espaço Reservado para Conteúdo 2"/>
          <p:cNvSpPr>
            <a:spLocks noGrp="1"/>
          </p:cNvSpPr>
          <p:nvPr>
            <p:ph idx="1"/>
          </p:nvPr>
        </p:nvSpPr>
        <p:spPr>
          <a:xfrm>
            <a:off x="498475" y="1981200"/>
            <a:ext cx="7556500" cy="2879725"/>
          </a:xfrm>
        </p:spPr>
        <p:txBody>
          <a:bodyPr/>
          <a:lstStyle/>
          <a:p>
            <a:pPr eaLnBrk="1" hangingPunct="1"/>
            <a:r>
              <a:rPr lang="pt-BR" smtClean="0"/>
              <a:t>Durante o curso utilizaremos:</a:t>
            </a:r>
          </a:p>
          <a:p>
            <a:pPr lvl="1" eaLnBrk="1" hangingPunct="1"/>
            <a:r>
              <a:rPr lang="pt-BR" smtClean="0"/>
              <a:t>XAMPP – para rodar o PHP e o MySQL</a:t>
            </a:r>
          </a:p>
          <a:p>
            <a:pPr lvl="1" eaLnBrk="1" hangingPunct="1"/>
            <a:r>
              <a:rPr lang="pt-BR" smtClean="0"/>
              <a:t>PHP Editor – para editar arquivos .PHP</a:t>
            </a:r>
          </a:p>
          <a:p>
            <a:pPr lvl="1" eaLnBrk="1" hangingPunct="1"/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Ferramentas</a:t>
            </a:r>
            <a:br>
              <a:rPr lang="pt-BR" smtClean="0"/>
            </a:br>
            <a:r>
              <a:rPr lang="pt-BR" smtClean="0"/>
              <a:t>PHP Editor</a:t>
            </a:r>
          </a:p>
        </p:txBody>
      </p:sp>
      <p:pic>
        <p:nvPicPr>
          <p:cNvPr id="38915" name="Espaço Reservado para Conteúdo 3" descr="php editor.gi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76350" y="2143125"/>
            <a:ext cx="6000750" cy="4114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Ferramentas</a:t>
            </a:r>
            <a:br>
              <a:rPr lang="pt-BR" smtClean="0"/>
            </a:br>
            <a:r>
              <a:rPr lang="pt-BR" smtClean="0"/>
              <a:t>Xampp</a:t>
            </a:r>
          </a:p>
        </p:txBody>
      </p:sp>
      <p:pic>
        <p:nvPicPr>
          <p:cNvPr id="39939" name="Espaço Reservado para Conteúdo 3" descr="xampp7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28838" y="2316163"/>
            <a:ext cx="4295775" cy="34766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Sintaxe Básica</a:t>
            </a:r>
          </a:p>
        </p:txBody>
      </p:sp>
      <p:sp>
        <p:nvSpPr>
          <p:cNvPr id="4096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smtClean="0"/>
              <a:t>&lt;?php</a:t>
            </a:r>
            <a:br>
              <a:rPr lang="pt-BR" smtClean="0"/>
            </a:br>
            <a:r>
              <a:rPr lang="pt-BR" smtClean="0"/>
              <a:t/>
            </a:r>
            <a:br>
              <a:rPr lang="pt-BR" smtClean="0"/>
            </a:br>
            <a:r>
              <a:rPr lang="pt-BR" smtClean="0"/>
              <a:t>[codigo]</a:t>
            </a:r>
            <a:br>
              <a:rPr lang="pt-BR" smtClean="0"/>
            </a:br>
            <a:r>
              <a:rPr lang="pt-BR" smtClean="0"/>
              <a:t/>
            </a:r>
            <a:br>
              <a:rPr lang="pt-BR" smtClean="0"/>
            </a:br>
            <a:r>
              <a:rPr lang="pt-BR" smtClean="0"/>
              <a:t>?&gt;</a:t>
            </a:r>
          </a:p>
          <a:p>
            <a:pPr eaLnBrk="1" hangingPunct="1"/>
            <a:r>
              <a:rPr lang="pt-BR" smtClean="0"/>
              <a:t>&lt;? </a:t>
            </a:r>
            <a:br>
              <a:rPr lang="pt-BR" smtClean="0"/>
            </a:br>
            <a:r>
              <a:rPr lang="pt-BR" smtClean="0"/>
              <a:t/>
            </a:r>
            <a:br>
              <a:rPr lang="pt-BR" smtClean="0"/>
            </a:br>
            <a:r>
              <a:rPr lang="pt-BR" smtClean="0"/>
              <a:t>[Codigo]</a:t>
            </a:r>
            <a:br>
              <a:rPr lang="pt-BR" smtClean="0"/>
            </a:br>
            <a:r>
              <a:rPr lang="pt-BR" smtClean="0"/>
              <a:t/>
            </a:r>
            <a:br>
              <a:rPr lang="pt-BR" smtClean="0"/>
            </a:br>
            <a:r>
              <a:rPr lang="pt-BR" smtClean="0"/>
              <a:t>?&gt;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Sintaxe Básica</a:t>
            </a:r>
          </a:p>
        </p:txBody>
      </p:sp>
      <p:sp>
        <p:nvSpPr>
          <p:cNvPr id="4096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smtClean="0"/>
              <a:t>Obrigatório o uso de “;” no final da linha</a:t>
            </a:r>
          </a:p>
          <a:p>
            <a:pPr eaLnBrk="1" hangingPunct="1"/>
            <a:r>
              <a:rPr lang="pt-BR" smtClean="0"/>
              <a:t>Variáveis definidas com um cifrão antes</a:t>
            </a:r>
            <a:br>
              <a:rPr lang="pt-BR" smtClean="0"/>
            </a:br>
            <a:r>
              <a:rPr lang="pt-BR" smtClean="0"/>
              <a:t>São case sensitive ($Var ≠ $var ≠ $VAR)</a:t>
            </a:r>
          </a:p>
          <a:p>
            <a:pPr eaLnBrk="1" hangingPunct="1"/>
            <a:r>
              <a:rPr lang="pt-BR" smtClean="0"/>
              <a:t>Comentário de 1 linha</a:t>
            </a:r>
            <a:br>
              <a:rPr lang="pt-BR" smtClean="0"/>
            </a:br>
            <a:r>
              <a:rPr lang="pt-BR" smtClean="0"/>
              <a:t>// Comentário</a:t>
            </a:r>
          </a:p>
          <a:p>
            <a:pPr eaLnBrk="1" hangingPunct="1"/>
            <a:r>
              <a:rPr lang="pt-BR" smtClean="0"/>
              <a:t>Comentário de mais de 1 linha</a:t>
            </a:r>
            <a:br>
              <a:rPr lang="pt-BR" smtClean="0"/>
            </a:br>
            <a:r>
              <a:rPr lang="pt-BR" smtClean="0"/>
              <a:t>/*</a:t>
            </a:r>
            <a:br>
              <a:rPr lang="pt-BR" smtClean="0"/>
            </a:br>
            <a:r>
              <a:rPr lang="pt-BR" smtClean="0"/>
              <a:t>Comentário</a:t>
            </a:r>
            <a:br>
              <a:rPr lang="pt-BR" smtClean="0"/>
            </a:br>
            <a:r>
              <a:rPr lang="pt-BR" smtClean="0"/>
              <a:t>*/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Sintaxe Básica</a:t>
            </a:r>
          </a:p>
        </p:txBody>
      </p:sp>
      <p:sp>
        <p:nvSpPr>
          <p:cNvPr id="43011" name="Espaço Reservado para Conteúdo 2"/>
          <p:cNvSpPr>
            <a:spLocks noGrp="1"/>
          </p:cNvSpPr>
          <p:nvPr>
            <p:ph idx="1"/>
          </p:nvPr>
        </p:nvSpPr>
        <p:spPr>
          <a:xfrm>
            <a:off x="498475" y="1600200"/>
            <a:ext cx="7556500" cy="4144963"/>
          </a:xfrm>
        </p:spPr>
        <p:txBody>
          <a:bodyPr/>
          <a:lstStyle/>
          <a:p>
            <a:pPr eaLnBrk="1" hangingPunct="1"/>
            <a:r>
              <a:rPr lang="pt-BR" smtClean="0"/>
              <a:t>Documento HTML normal</a:t>
            </a:r>
            <a:br>
              <a:rPr lang="pt-BR" smtClean="0"/>
            </a:br>
            <a:r>
              <a:rPr lang="pt-BR" smtClean="0"/>
              <a:t/>
            </a:r>
            <a:br>
              <a:rPr lang="pt-BR" smtClean="0"/>
            </a:br>
            <a:r>
              <a:rPr lang="pt-BR" sz="1800" smtClean="0"/>
              <a:t>&lt;html&gt;</a:t>
            </a:r>
            <a:br>
              <a:rPr lang="pt-BR" sz="1800" smtClean="0"/>
            </a:br>
            <a:r>
              <a:rPr lang="pt-BR" sz="1800" smtClean="0"/>
              <a:t>    &lt;head&gt;</a:t>
            </a:r>
            <a:br>
              <a:rPr lang="pt-BR" sz="1800" smtClean="0"/>
            </a:br>
            <a:r>
              <a:rPr lang="pt-BR" sz="1800" smtClean="0"/>
              <a:t>        &lt;title&gt;Título da página&lt;/title&gt;</a:t>
            </a:r>
            <a:br>
              <a:rPr lang="pt-BR" sz="1800" smtClean="0"/>
            </a:br>
            <a:r>
              <a:rPr lang="pt-BR" sz="1800" smtClean="0"/>
              <a:t>    &lt;/head&gt;</a:t>
            </a:r>
            <a:br>
              <a:rPr lang="pt-BR" sz="1800" smtClean="0"/>
            </a:br>
            <a:r>
              <a:rPr lang="pt-BR" sz="1800" smtClean="0"/>
              <a:t>    &lt;body&gt;</a:t>
            </a:r>
            <a:br>
              <a:rPr lang="pt-BR" sz="1800" smtClean="0"/>
            </a:br>
            <a:r>
              <a:rPr lang="pt-BR" sz="1800" smtClean="0"/>
              <a:t>    [conteúdo aqui]</a:t>
            </a:r>
            <a:br>
              <a:rPr lang="pt-BR" sz="1800" smtClean="0"/>
            </a:br>
            <a:r>
              <a:rPr lang="pt-BR" sz="1800" smtClean="0"/>
              <a:t>        &lt;table&gt;</a:t>
            </a:r>
            <a:br>
              <a:rPr lang="pt-BR" sz="1800" smtClean="0"/>
            </a:br>
            <a:r>
              <a:rPr lang="pt-BR" sz="1800" smtClean="0"/>
              <a:t>            &lt;tr&gt;</a:t>
            </a:r>
            <a:br>
              <a:rPr lang="pt-BR" sz="1800" smtClean="0"/>
            </a:br>
            <a:r>
              <a:rPr lang="pt-BR" sz="1800" smtClean="0"/>
              <a:t>                &lt;td&gt;&lt;/td&gt;</a:t>
            </a:r>
            <a:br>
              <a:rPr lang="pt-BR" sz="1800" smtClean="0"/>
            </a:br>
            <a:r>
              <a:rPr lang="pt-BR" sz="1800" smtClean="0"/>
              <a:t>                &lt;td&gt;&lt;/td&gt;</a:t>
            </a:r>
            <a:br>
              <a:rPr lang="pt-BR" sz="1800" smtClean="0"/>
            </a:br>
            <a:r>
              <a:rPr lang="pt-BR" sz="1800" smtClean="0"/>
              <a:t>            &lt;/tr&gt;</a:t>
            </a:r>
            <a:br>
              <a:rPr lang="pt-BR" sz="1800" smtClean="0"/>
            </a:br>
            <a:r>
              <a:rPr lang="pt-BR" sz="1800" smtClean="0"/>
              <a:t>        &lt;/table&gt;</a:t>
            </a:r>
            <a:br>
              <a:rPr lang="pt-BR" sz="1800" smtClean="0"/>
            </a:br>
            <a:r>
              <a:rPr lang="pt-BR" sz="1800" smtClean="0"/>
              <a:t>    &lt;/body&gt;</a:t>
            </a:r>
            <a:br>
              <a:rPr lang="pt-BR" sz="1800" smtClean="0"/>
            </a:br>
            <a:r>
              <a:rPr lang="pt-BR" sz="1800" smtClean="0"/>
              <a:t>&lt;/html&gt;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Sintaxe Básica</a:t>
            </a:r>
          </a:p>
        </p:txBody>
      </p:sp>
      <p:sp>
        <p:nvSpPr>
          <p:cNvPr id="3584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-109" charset="2"/>
              <a:buChar char="n"/>
              <a:defRPr/>
            </a:pPr>
            <a:r>
              <a:rPr lang="pt-BR" dirty="0" smtClean="0"/>
              <a:t>Documento HTML com PHP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&lt;</a:t>
            </a:r>
            <a:r>
              <a:rPr lang="pt-BR" dirty="0" err="1" smtClean="0"/>
              <a:t>html</a:t>
            </a:r>
            <a:r>
              <a:rPr lang="pt-BR" dirty="0" smtClean="0"/>
              <a:t>&gt;</a:t>
            </a:r>
            <a:br>
              <a:rPr lang="pt-BR" dirty="0" smtClean="0"/>
            </a:br>
            <a:r>
              <a:rPr lang="pt-BR" dirty="0" smtClean="0"/>
              <a:t>&lt;</a:t>
            </a:r>
            <a:r>
              <a:rPr lang="pt-BR" dirty="0" err="1" smtClean="0"/>
              <a:t>head</a:t>
            </a:r>
            <a:r>
              <a:rPr lang="pt-BR" dirty="0" smtClean="0"/>
              <a:t>&gt;</a:t>
            </a:r>
            <a:br>
              <a:rPr lang="pt-BR" dirty="0" smtClean="0"/>
            </a:br>
            <a:r>
              <a:rPr lang="pt-BR" dirty="0" smtClean="0"/>
              <a:t>   &lt;</a:t>
            </a:r>
            <a:r>
              <a:rPr lang="pt-BR" dirty="0" err="1" smtClean="0"/>
              <a:t>title</a:t>
            </a:r>
            <a:r>
              <a:rPr lang="pt-BR" dirty="0" smtClean="0"/>
              <a:t>&gt;Título da página&lt;/</a:t>
            </a:r>
            <a:r>
              <a:rPr lang="pt-BR" dirty="0" err="1" smtClean="0"/>
              <a:t>title</a:t>
            </a:r>
            <a:r>
              <a:rPr lang="pt-BR" dirty="0" smtClean="0"/>
              <a:t>&gt;</a:t>
            </a:r>
            <a:br>
              <a:rPr lang="pt-BR" dirty="0" smtClean="0"/>
            </a:br>
            <a:r>
              <a:rPr lang="pt-BR" dirty="0" smtClean="0"/>
              <a:t>&lt;/</a:t>
            </a:r>
            <a:r>
              <a:rPr lang="pt-BR" dirty="0" err="1" smtClean="0"/>
              <a:t>head</a:t>
            </a:r>
            <a:r>
              <a:rPr lang="pt-BR" dirty="0" smtClean="0"/>
              <a:t>&gt;</a:t>
            </a:r>
            <a:br>
              <a:rPr lang="pt-BR" dirty="0" smtClean="0"/>
            </a:br>
            <a:r>
              <a:rPr lang="pt-BR" dirty="0" smtClean="0"/>
              <a:t>&lt;</a:t>
            </a:r>
            <a:r>
              <a:rPr lang="pt-BR" dirty="0" err="1" smtClean="0"/>
              <a:t>body</a:t>
            </a:r>
            <a:r>
              <a:rPr lang="pt-BR" dirty="0" smtClean="0"/>
              <a:t>&gt;</a:t>
            </a:r>
            <a:br>
              <a:rPr lang="pt-BR" dirty="0" smtClean="0"/>
            </a:br>
            <a: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  <a:t>&lt;?</a:t>
            </a:r>
            <a:b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</a:br>
            <a:r>
              <a:rPr lang="pt-BR" dirty="0" err="1" smtClean="0">
                <a:solidFill>
                  <a:schemeClr val="accent2">
                    <a:lumMod val="50000"/>
                  </a:schemeClr>
                </a:solidFill>
              </a:rPr>
              <a:t>echo</a:t>
            </a:r>
            <a: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  <a:t> “</a:t>
            </a:r>
            <a:r>
              <a:rPr lang="pt-BR" dirty="0" err="1" smtClean="0">
                <a:solidFill>
                  <a:schemeClr val="accent2">
                    <a:lumMod val="50000"/>
                  </a:schemeClr>
                </a:solidFill>
              </a:rPr>
              <a:t>Hello</a:t>
            </a:r>
            <a: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  <a:t> World”;</a:t>
            </a:r>
            <a:b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</a:br>
            <a: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  <a:t>?&gt;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&lt;/</a:t>
            </a:r>
            <a:r>
              <a:rPr lang="pt-BR" dirty="0" err="1" smtClean="0"/>
              <a:t>body</a:t>
            </a:r>
            <a:r>
              <a:rPr lang="pt-BR" dirty="0" smtClean="0"/>
              <a:t>&gt;</a:t>
            </a:r>
            <a:br>
              <a:rPr lang="pt-BR" dirty="0" smtClean="0"/>
            </a:br>
            <a:r>
              <a:rPr lang="pt-BR" dirty="0" smtClean="0"/>
              <a:t>&lt;/</a:t>
            </a:r>
            <a:r>
              <a:rPr lang="pt-BR" dirty="0" err="1" smtClean="0"/>
              <a:t>html</a:t>
            </a:r>
            <a:r>
              <a:rPr lang="pt-BR" dirty="0" smtClean="0"/>
              <a:t>&gt;</a:t>
            </a:r>
          </a:p>
          <a:p>
            <a:pPr eaLnBrk="1" hangingPunct="1">
              <a:buFont typeface="Wingdings" pitchFamily="-109" charset="2"/>
              <a:buChar char="n"/>
              <a:defRPr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Sintaxe Básica</a:t>
            </a:r>
          </a:p>
        </p:txBody>
      </p:sp>
      <p:sp>
        <p:nvSpPr>
          <p:cNvPr id="36867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-109" charset="2"/>
              <a:buChar char="n"/>
              <a:defRPr/>
            </a:pPr>
            <a:r>
              <a:rPr lang="pt-BR" dirty="0" smtClean="0"/>
              <a:t>Outro exemplo</a:t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&lt;</a:t>
            </a:r>
            <a:r>
              <a:rPr lang="pt-BR" dirty="0" err="1" smtClean="0"/>
              <a:t>html</a:t>
            </a:r>
            <a:r>
              <a:rPr lang="pt-BR" dirty="0" smtClean="0"/>
              <a:t>&gt;</a:t>
            </a:r>
            <a:br>
              <a:rPr lang="pt-BR" dirty="0" smtClean="0"/>
            </a:br>
            <a:r>
              <a:rPr lang="pt-BR" dirty="0" smtClean="0"/>
              <a:t>&lt;</a:t>
            </a:r>
            <a:r>
              <a:rPr lang="pt-BR" dirty="0" err="1" smtClean="0"/>
              <a:t>head</a:t>
            </a:r>
            <a:r>
              <a:rPr lang="pt-BR" dirty="0" smtClean="0"/>
              <a:t>&gt;</a:t>
            </a:r>
            <a:br>
              <a:rPr lang="pt-BR" dirty="0" smtClean="0"/>
            </a:br>
            <a:r>
              <a:rPr lang="pt-BR" dirty="0" smtClean="0"/>
              <a:t>   &lt;</a:t>
            </a:r>
            <a:r>
              <a:rPr lang="pt-BR" dirty="0" err="1" smtClean="0"/>
              <a:t>title</a:t>
            </a:r>
            <a:r>
              <a:rPr lang="pt-BR" dirty="0" smtClean="0"/>
              <a:t>&gt;Título da página&lt;/</a:t>
            </a:r>
            <a:r>
              <a:rPr lang="pt-BR" dirty="0" err="1" smtClean="0"/>
              <a:t>title</a:t>
            </a:r>
            <a:r>
              <a:rPr lang="pt-BR" dirty="0" smtClean="0"/>
              <a:t>&gt;</a:t>
            </a:r>
            <a:br>
              <a:rPr lang="pt-BR" dirty="0" smtClean="0"/>
            </a:br>
            <a:r>
              <a:rPr lang="pt-BR" dirty="0" smtClean="0"/>
              <a:t>&lt;/</a:t>
            </a:r>
            <a:r>
              <a:rPr lang="pt-BR" dirty="0" err="1" smtClean="0"/>
              <a:t>head</a:t>
            </a:r>
            <a:r>
              <a:rPr lang="pt-BR" dirty="0" smtClean="0"/>
              <a:t>&gt;</a:t>
            </a:r>
            <a:br>
              <a:rPr lang="pt-BR" dirty="0" smtClean="0"/>
            </a:br>
            <a:r>
              <a:rPr lang="pt-BR" dirty="0" smtClean="0"/>
              <a:t>&lt;</a:t>
            </a:r>
            <a:r>
              <a:rPr lang="pt-BR" dirty="0" err="1" smtClean="0"/>
              <a:t>body</a:t>
            </a:r>
            <a:r>
              <a:rPr lang="pt-BR" dirty="0" smtClean="0"/>
              <a:t>&gt;</a:t>
            </a:r>
            <a:br>
              <a:rPr lang="pt-BR" dirty="0" smtClean="0"/>
            </a:br>
            <a: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  <a:t>&lt;?</a:t>
            </a:r>
            <a:b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</a:br>
            <a: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  <a:t>$nome = “bruno”;</a:t>
            </a:r>
            <a:b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</a:br>
            <a:r>
              <a:rPr lang="pt-BR" dirty="0" err="1" smtClean="0">
                <a:solidFill>
                  <a:schemeClr val="accent2">
                    <a:lumMod val="50000"/>
                  </a:schemeClr>
                </a:solidFill>
              </a:rPr>
              <a:t>echo</a:t>
            </a:r>
            <a: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  <a:t> “</a:t>
            </a:r>
            <a:r>
              <a:rPr lang="pt-BR" dirty="0" err="1" smtClean="0">
                <a:solidFill>
                  <a:schemeClr val="accent2">
                    <a:lumMod val="50000"/>
                  </a:schemeClr>
                </a:solidFill>
              </a:rPr>
              <a:t>Hello</a:t>
            </a:r>
            <a: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  <a:t>”;</a:t>
            </a:r>
            <a:b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</a:br>
            <a:r>
              <a:rPr lang="pt-BR" dirty="0" err="1" smtClean="0">
                <a:solidFill>
                  <a:schemeClr val="accent2">
                    <a:lumMod val="50000"/>
                  </a:schemeClr>
                </a:solidFill>
              </a:rPr>
              <a:t>echo</a:t>
            </a:r>
            <a: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  <a:t> $nome;</a:t>
            </a:r>
            <a:b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</a:br>
            <a: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  <a:t>?&gt;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&lt;/</a:t>
            </a:r>
            <a:r>
              <a:rPr lang="pt-BR" dirty="0" err="1" smtClean="0"/>
              <a:t>body</a:t>
            </a:r>
            <a:r>
              <a:rPr lang="pt-BR" dirty="0" smtClean="0"/>
              <a:t>&gt;</a:t>
            </a:r>
            <a:br>
              <a:rPr lang="pt-BR" dirty="0" smtClean="0"/>
            </a:br>
            <a:r>
              <a:rPr lang="pt-BR" dirty="0" smtClean="0"/>
              <a:t>&lt;/</a:t>
            </a:r>
            <a:r>
              <a:rPr lang="pt-BR" dirty="0" err="1" smtClean="0"/>
              <a:t>html</a:t>
            </a:r>
            <a:r>
              <a:rPr lang="pt-BR" dirty="0" smtClean="0"/>
              <a:t>&gt;</a:t>
            </a:r>
          </a:p>
          <a:p>
            <a:pPr eaLnBrk="1" hangingPunct="1">
              <a:buFont typeface="Wingdings" pitchFamily="-109" charset="2"/>
              <a:buChar char="n"/>
              <a:defRPr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Sintaxe Básica</a:t>
            </a:r>
          </a:p>
        </p:txBody>
      </p:sp>
      <p:sp>
        <p:nvSpPr>
          <p:cNvPr id="4608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smtClean="0"/>
              <a:t>Comandos de impressão</a:t>
            </a:r>
            <a:br>
              <a:rPr lang="pt-BR" smtClean="0"/>
            </a:br>
            <a:r>
              <a:rPr lang="pt-BR" smtClean="0"/>
              <a:t>O que tiver após o comando aparece na tela como se fosse html</a:t>
            </a:r>
          </a:p>
          <a:p>
            <a:pPr lvl="1" eaLnBrk="1" hangingPunct="1"/>
            <a:r>
              <a:rPr lang="pt-BR" smtClean="0"/>
              <a:t>&lt;?</a:t>
            </a:r>
            <a:br>
              <a:rPr lang="pt-BR" smtClean="0"/>
            </a:br>
            <a:r>
              <a:rPr lang="pt-BR" smtClean="0"/>
              <a:t>Echo “usando echo”;</a:t>
            </a:r>
            <a:br>
              <a:rPr lang="pt-BR" smtClean="0"/>
            </a:br>
            <a:r>
              <a:rPr lang="pt-BR" smtClean="0"/>
              <a:t>print “Usando print”;</a:t>
            </a:r>
            <a:br>
              <a:rPr lang="pt-BR" smtClean="0"/>
            </a:br>
            <a:r>
              <a:rPr lang="pt-BR" smtClean="0"/>
              <a:t>?&gt;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Sintaxe Básica</a:t>
            </a:r>
          </a:p>
        </p:txBody>
      </p:sp>
      <p:sp>
        <p:nvSpPr>
          <p:cNvPr id="47107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smtClean="0"/>
              <a:t>A tag PHP pode ser aberta e fechada várias vezes no meio do html</a:t>
            </a:r>
          </a:p>
          <a:p>
            <a:pPr eaLnBrk="1" hangingPunct="1"/>
            <a:r>
              <a:rPr lang="pt-BR" smtClean="0"/>
              <a:t>Ex:</a:t>
            </a:r>
            <a:br>
              <a:rPr lang="pt-BR" smtClean="0"/>
            </a:br>
            <a:r>
              <a:rPr lang="pt-BR" smtClean="0"/>
              <a:t>...</a:t>
            </a:r>
            <a:br>
              <a:rPr lang="pt-BR" smtClean="0"/>
            </a:br>
            <a:r>
              <a:rPr lang="pt-BR" smtClean="0"/>
              <a:t>&lt;table&gt;</a:t>
            </a:r>
            <a:br>
              <a:rPr lang="pt-BR" smtClean="0"/>
            </a:br>
            <a:r>
              <a:rPr lang="pt-BR" smtClean="0"/>
              <a:t>    &lt;tr&gt;</a:t>
            </a:r>
            <a:br>
              <a:rPr lang="pt-BR" smtClean="0"/>
            </a:br>
            <a:r>
              <a:rPr lang="pt-BR" smtClean="0"/>
              <a:t>        &lt;td&gt;&lt;? echo “Nome”; ?&gt;&lt;/td&gt;</a:t>
            </a:r>
            <a:br>
              <a:rPr lang="pt-BR" smtClean="0"/>
            </a:br>
            <a:r>
              <a:rPr lang="pt-BR" smtClean="0"/>
              <a:t>        &lt;td&gt;&lt;? echo “Telefone”; ?&gt;&lt;/td&gt;</a:t>
            </a:r>
            <a:br>
              <a:rPr lang="pt-BR" smtClean="0"/>
            </a:br>
            <a:r>
              <a:rPr lang="pt-BR" smtClean="0"/>
              <a:t>    &lt;/tr&gt;</a:t>
            </a:r>
            <a:br>
              <a:rPr lang="pt-BR" smtClean="0"/>
            </a:br>
            <a:r>
              <a:rPr lang="pt-BR" smtClean="0"/>
              <a:t>    &lt;tr&gt;</a:t>
            </a:r>
            <a:br>
              <a:rPr lang="pt-BR" smtClean="0"/>
            </a:br>
            <a:r>
              <a:rPr lang="pt-BR" smtClean="0"/>
              <a:t>        &lt;td&gt;&lt;? echo $nome; &lt;/td&gt;</a:t>
            </a:r>
            <a:br>
              <a:rPr lang="pt-BR" smtClean="0"/>
            </a:br>
            <a:r>
              <a:rPr lang="pt-BR" smtClean="0"/>
              <a:t>        &lt;td&gt;&lt;? echo $telefone; ?&gt;&lt;/td&gt;</a:t>
            </a:r>
            <a:br>
              <a:rPr lang="pt-BR" smtClean="0"/>
            </a:br>
            <a:r>
              <a:rPr lang="pt-BR" smtClean="0"/>
              <a:t>    &lt;/tr&gt;</a:t>
            </a:r>
            <a:br>
              <a:rPr lang="pt-BR" smtClean="0"/>
            </a:br>
            <a:r>
              <a:rPr lang="pt-BR" smtClean="0"/>
              <a:t>&lt;/table&gt; </a:t>
            </a:r>
            <a:br>
              <a:rPr lang="pt-BR" smtClean="0"/>
            </a:br>
            <a:r>
              <a:rPr lang="pt-BR" smtClean="0"/>
              <a:t>...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5500688" y="4000500"/>
          <a:ext cx="3048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</a:tblGrid>
              <a:tr h="370682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Nome</a:t>
                      </a:r>
                      <a:endParaRPr lang="pt-BR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Telefone</a:t>
                      </a:r>
                      <a:endParaRPr lang="pt-BR" sz="1800" dirty="0"/>
                    </a:p>
                  </a:txBody>
                  <a:tcPr marT="45700" marB="45700"/>
                </a:tc>
              </a:tr>
              <a:tr h="370682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João</a:t>
                      </a:r>
                      <a:endParaRPr lang="pt-BR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99999999</a:t>
                      </a:r>
                      <a:endParaRPr lang="pt-BR" sz="1800" dirty="0"/>
                    </a:p>
                  </a:txBody>
                  <a:tcPr marT="45700" marB="4570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Onde Salvar os Arquivos</a:t>
            </a:r>
          </a:p>
        </p:txBody>
      </p:sp>
      <p:pic>
        <p:nvPicPr>
          <p:cNvPr id="48131" name="Espaço Reservado para Conteúdo 3" descr="xampppp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95425" y="1785938"/>
            <a:ext cx="5562600" cy="414496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E o design?</a:t>
            </a:r>
          </a:p>
        </p:txBody>
      </p:sp>
      <p:sp>
        <p:nvSpPr>
          <p:cNvPr id="4915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smtClean="0"/>
              <a:t>Utilizar programas que facilitem o trabalho de design</a:t>
            </a:r>
          </a:p>
          <a:p>
            <a:pPr eaLnBrk="1" hangingPunct="1"/>
            <a:r>
              <a:rPr lang="pt-BR" smtClean="0"/>
              <a:t>Digitar apenas programação</a:t>
            </a:r>
          </a:p>
          <a:p>
            <a:pPr eaLnBrk="1" hangingPunct="1"/>
            <a:r>
              <a:rPr lang="pt-BR" smtClean="0"/>
              <a:t>Recomendação: Dreamweaver, Fireworks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Referências</a:t>
            </a:r>
          </a:p>
        </p:txBody>
      </p:sp>
      <p:sp>
        <p:nvSpPr>
          <p:cNvPr id="5017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mtClean="0">
                <a:hlinkClick r:id="rId2"/>
              </a:rPr>
              <a:t>www.php.net</a:t>
            </a:r>
            <a:r>
              <a:rPr lang="pt-BR" smtClean="0"/>
              <a:t> </a:t>
            </a:r>
          </a:p>
          <a:p>
            <a:r>
              <a:rPr lang="pt-BR" smtClean="0">
                <a:hlinkClick r:id="rId3"/>
              </a:rPr>
              <a:t>www.imasters.com.br</a:t>
            </a:r>
            <a:endParaRPr lang="pt-BR" smtClean="0"/>
          </a:p>
          <a:p>
            <a:r>
              <a:rPr lang="pt-BR" smtClean="0">
                <a:hlinkClick r:id="rId4"/>
              </a:rPr>
              <a:t>http://www.wmonline.com.br/</a:t>
            </a:r>
            <a:r>
              <a:rPr lang="pt-BR" smtClean="0"/>
              <a:t> </a:t>
            </a:r>
          </a:p>
          <a:p>
            <a:r>
              <a:rPr lang="pt-BR" smtClean="0">
                <a:hlinkClick r:id="rId5"/>
              </a:rPr>
              <a:t>http://www.scriptbrasil.com.br/</a:t>
            </a:r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elo">
  <a:themeElements>
    <a:clrScheme name="Custom 2">
      <a:dk1>
        <a:srgbClr val="373737"/>
      </a:dk1>
      <a:lt1>
        <a:sysClr val="window" lastClr="FFFFFF"/>
      </a:lt1>
      <a:dk2>
        <a:srgbClr val="96BF3B"/>
      </a:dk2>
      <a:lt2>
        <a:srgbClr val="ADDC45"/>
      </a:lt2>
      <a:accent1>
        <a:srgbClr val="86C32A"/>
      </a:accent1>
      <a:accent2>
        <a:srgbClr val="86C32A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modelo</Template>
  <TotalTime>315</TotalTime>
  <Words>439</Words>
  <Application>Microsoft Office PowerPoint</Application>
  <PresentationFormat>Apresentação na tela (4:3)</PresentationFormat>
  <Paragraphs>126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3" baseType="lpstr">
      <vt:lpstr>Arial</vt:lpstr>
      <vt:lpstr>ＭＳ Ｐゴシック</vt:lpstr>
      <vt:lpstr>Calibri</vt:lpstr>
      <vt:lpstr>Wingdings</vt:lpstr>
      <vt:lpstr>modelo</vt:lpstr>
      <vt:lpstr>Curso PHP – Aula 01</vt:lpstr>
      <vt:lpstr>Roteiro</vt:lpstr>
      <vt:lpstr>Objetivos</vt:lpstr>
      <vt:lpstr>O que é possível fazer</vt:lpstr>
      <vt:lpstr>O que é possível fazer</vt:lpstr>
      <vt:lpstr>O que é possível fazer</vt:lpstr>
      <vt:lpstr>O que é possível fazer</vt:lpstr>
      <vt:lpstr>Roteiro do curso</vt:lpstr>
      <vt:lpstr>Roteiro do curso</vt:lpstr>
      <vt:lpstr>Roteiro do curso</vt:lpstr>
      <vt:lpstr>Considerações</vt:lpstr>
      <vt:lpstr>Sites Dinâmicos</vt:lpstr>
      <vt:lpstr>Sites Dinâmicos</vt:lpstr>
      <vt:lpstr>O PHP</vt:lpstr>
      <vt:lpstr>PHP x ASP</vt:lpstr>
      <vt:lpstr>Ferramentas</vt:lpstr>
      <vt:lpstr>Ferramentas PHP Editor</vt:lpstr>
      <vt:lpstr>Ferramentas Xampp</vt:lpstr>
      <vt:lpstr>Sintaxe Básica</vt:lpstr>
      <vt:lpstr>Sintaxe Básica</vt:lpstr>
      <vt:lpstr>Sintaxe Básica</vt:lpstr>
      <vt:lpstr>Sintaxe Básica</vt:lpstr>
      <vt:lpstr>Sintaxe Básica</vt:lpstr>
      <vt:lpstr>Sintaxe Básica</vt:lpstr>
      <vt:lpstr>Sintaxe Básica</vt:lpstr>
      <vt:lpstr>Onde Salvar os Arquivos</vt:lpstr>
      <vt:lpstr>E o design?</vt:lpstr>
      <vt:lpstr>Referências</vt:lpstr>
    </vt:vector>
  </TitlesOfParts>
  <Company>MD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Bruno</dc:creator>
  <cp:lastModifiedBy>bruno</cp:lastModifiedBy>
  <cp:revision>37</cp:revision>
  <dcterms:created xsi:type="dcterms:W3CDTF">2009-01-26T19:21:01Z</dcterms:created>
  <dcterms:modified xsi:type="dcterms:W3CDTF">2011-01-06T03:35:08Z</dcterms:modified>
</cp:coreProperties>
</file>